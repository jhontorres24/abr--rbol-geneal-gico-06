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Playfair Display" panose="00000500000000000000" pitchFamily="2" charset="0"/>
      <p:regular r:id="rId25"/>
      <p:bold r:id="rId26"/>
      <p:italic r:id="rId27"/>
      <p:boldItalic r:id="rId28"/>
    </p:embeddedFont>
    <p:embeddedFont>
      <p:font typeface="Raleway" pitchFamily="2" charset="0"/>
      <p:regular r:id="rId29"/>
      <p:bold r:id="rId30"/>
      <p:italic r:id="rId31"/>
      <p:boldItalic r:id="rId32"/>
    </p:embeddedFont>
    <p:embeddedFont>
      <p:font typeface="Source Sans Pro" panose="020B050303040302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heme" Target="theme/theme1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9bfd64f7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9bfd64f7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9bfd64f7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9bfd64f7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7850191a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7850191a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7850191a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7850191a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7850191a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7850191a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7850191aa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7850191aa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7850191aa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7850191aa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7850191aa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7850191aa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7850191a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7850191a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7850191a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7850191a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7850191a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7850191aa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7850191aa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7850191aa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7850191aa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67850191aa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08350" y="550750"/>
            <a:ext cx="8520600" cy="12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marR="152400" lvl="0" indent="-2286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</a:pPr>
            <a:r>
              <a:rPr lang="es" sz="6700" b="1">
                <a:solidFill>
                  <a:schemeClr val="lt1"/>
                </a:solidFill>
              </a:rPr>
              <a:t>Árbol Genealógico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679575" y="1897050"/>
            <a:ext cx="34908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Curso: Estructura de datos</a:t>
            </a:r>
            <a:endParaRPr sz="1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871021" y="2736650"/>
            <a:ext cx="5087340" cy="18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Integrantes:</a:t>
            </a:r>
            <a:endParaRPr sz="22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endParaRPr lang="es-PE" sz="2200" b="0" i="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s-PE" sz="22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Aldair Antonio </a:t>
            </a:r>
            <a:r>
              <a:rPr lang="es-PE" sz="2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</a:t>
            </a:r>
            <a:r>
              <a:rPr lang="es-PE" sz="2200" b="0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erez</a:t>
            </a:r>
            <a:r>
              <a:rPr lang="es-PE" sz="22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PE" sz="2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</a:t>
            </a:r>
            <a:r>
              <a:rPr lang="es-PE" sz="2200" b="0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asquez</a:t>
            </a:r>
            <a:br>
              <a:rPr lang="es-PE" sz="2200" b="0" i="0" dirty="0">
                <a:solidFill>
                  <a:schemeClr val="bg1"/>
                </a:solidFill>
                <a:effectLst/>
                <a:latin typeface="Google Sans Text"/>
              </a:rPr>
            </a:br>
            <a:endParaRPr lang="es-PE" sz="2200" b="0" i="0" dirty="0">
              <a:solidFill>
                <a:schemeClr val="bg1"/>
              </a:solidFill>
              <a:effectLst/>
              <a:latin typeface="Google Sans Text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s-PE" sz="2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</a:t>
            </a:r>
            <a:r>
              <a:rPr lang="es-PE" sz="22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ean </a:t>
            </a:r>
            <a:r>
              <a:rPr lang="es-PE" sz="2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</a:t>
            </a:r>
            <a:r>
              <a:rPr lang="es-PE" sz="22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ierre </a:t>
            </a:r>
            <a:r>
              <a:rPr lang="es-PE" sz="2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</a:t>
            </a:r>
            <a:r>
              <a:rPr lang="es-PE" sz="2200" b="0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asquez</a:t>
            </a:r>
            <a:r>
              <a:rPr lang="es-PE" sz="22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Conde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endParaRPr lang="es" sz="22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s" sz="22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Torres Escalante Jhon Jaime</a:t>
            </a:r>
            <a:endParaRPr sz="22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084475" y="505025"/>
            <a:ext cx="2652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3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5000" u="sng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53725" y="1390000"/>
            <a:ext cx="8520600" cy="31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 esta sección se presenta el desarrollo de un sistema para gestionar árboles genealógicos utilizando estructuras de datos jerárquicas (árboles binarios y N-arios). Diseñado para arqueólogos que estudian una antigua civilización, el sistema permite almacenar, consultar y analizar relaciones familiares de manera eficiente, garantizando operaciones rápidas de inserción, búsqueda y eliminación.</a:t>
            </a:r>
            <a:endParaRPr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Objetivos principales:</a:t>
            </a:r>
            <a:endParaRPr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9881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Char char="●"/>
            </a:pPr>
            <a:r>
              <a:rPr lang="e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Modelar relaciones familiares con un ABB (Árbol Binario de Búsqueda) y adaptarlo a un árbol N-ario para reflejar estructuras complejas.</a:t>
            </a:r>
            <a:endParaRPr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988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Char char="●"/>
            </a:pPr>
            <a:r>
              <a:rPr lang="e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Implementar operaciones básicas (alta, baja, consultas) con complejidad óptima (O(log n) en promedio).</a:t>
            </a:r>
            <a:endParaRPr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988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Char char="●"/>
            </a:pPr>
            <a:r>
              <a:rPr lang="e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Ofrecer una interfaz intuitiva para usuarios no técnicos, con validación robusta de datos.</a:t>
            </a:r>
            <a:endParaRPr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ct val="47826"/>
              <a:buFont typeface="Arial"/>
              <a:buNone/>
            </a:pPr>
            <a:endParaRPr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7931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Ejemplo de Código: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227675" y="1816125"/>
            <a:ext cx="8520600" cy="23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A continuación, se presenta el ejemplo práctico del programa que implementa la gestión del árbol genealógico. Este código ilustra: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s">
                <a:solidFill>
                  <a:schemeClr val="dk2"/>
                </a:solidFill>
              </a:rPr>
              <a:t>La estructura base (nodos Persona con punteros a padre e hijos).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s">
                <a:solidFill>
                  <a:schemeClr val="dk2"/>
                </a:solidFill>
              </a:rPr>
              <a:t>Operaciones clave (creación, búsqueda y vinculación de miembros).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s">
                <a:solidFill>
                  <a:schemeClr val="dk2"/>
                </a:solidFill>
              </a:rPr>
              <a:t>Recorridos (preorden, inorden y postorden) para visualizar relaciones.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700" i="1"/>
              <a:t>Define una estructura llamada "Persona" en C++ ,que está diseñada para construir una estructura de datos jerárquica o árbol.</a:t>
            </a:r>
            <a:endParaRPr sz="1400" i="1"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55" y="1370725"/>
            <a:ext cx="3822850" cy="223112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9" name="Google Shape;79;p16"/>
          <p:cNvSpPr/>
          <p:nvPr/>
        </p:nvSpPr>
        <p:spPr>
          <a:xfrm>
            <a:off x="885225" y="2269450"/>
            <a:ext cx="2294700" cy="1227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600000" y="1854850"/>
            <a:ext cx="4168500" cy="2056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AutoNum type="arabicPeriod"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Usamos un string para almacenar el nombre de la </a:t>
            </a:r>
            <a:r>
              <a:rPr lang="es" sz="1100" b="1">
                <a:latin typeface="Source Sans Pro"/>
                <a:ea typeface="Source Sans Pro"/>
                <a:cs typeface="Source Sans Pro"/>
                <a:sym typeface="Source Sans Pro"/>
              </a:rPr>
              <a:t>persona.</a:t>
            </a:r>
            <a:endParaRPr sz="110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AutoNum type="arabicPeriod"/>
            </a:pPr>
            <a:r>
              <a:rPr lang="es" sz="1100" b="1">
                <a:latin typeface="Source Sans Pro"/>
                <a:ea typeface="Source Sans Pro"/>
                <a:cs typeface="Source Sans Pro"/>
                <a:sym typeface="Source Sans Pro"/>
              </a:rPr>
              <a:t>En padre</a:t>
            </a: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:Un puntero a otra Persona (el padre en una jerarquía familiar o en un árbol).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AutoNum type="arabicPeriod"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La </a:t>
            </a:r>
            <a:r>
              <a:rPr lang="es" sz="1100" b="1">
                <a:latin typeface="Source Sans Pro"/>
                <a:ea typeface="Source Sans Pro"/>
                <a:cs typeface="Source Sans Pro"/>
                <a:sym typeface="Source Sans Pro"/>
              </a:rPr>
              <a:t>”Izquierda”</a:t>
            </a: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 un puntero a otra persona(de un Hij@ izquierdo en la estructura del árbol).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AutoNum type="arabicPeriod"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La </a:t>
            </a:r>
            <a:r>
              <a:rPr lang="es" sz="1100" b="1">
                <a:latin typeface="Source Sans Pro"/>
                <a:ea typeface="Source Sans Pro"/>
                <a:cs typeface="Source Sans Pro"/>
                <a:sym typeface="Source Sans Pro"/>
              </a:rPr>
              <a:t>“Derecha”</a:t>
            </a: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un puntero a otra persona(de un hij@ derecho en el árbol binario)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81" name="Google Shape;81;p16"/>
          <p:cNvCxnSpPr>
            <a:stCxn id="80" idx="1"/>
            <a:endCxn id="79" idx="3"/>
          </p:cNvCxnSpPr>
          <p:nvPr/>
        </p:nvCxnSpPr>
        <p:spPr>
          <a:xfrm rot="10800000">
            <a:off x="3179800" y="2882950"/>
            <a:ext cx="14202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00" i="1"/>
              <a:t>Implementa una función para crear y gestionar instancias de la estructura Persona en un árbol binario.</a:t>
            </a:r>
            <a:endParaRPr sz="2000" i="1"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00" y="1605550"/>
            <a:ext cx="4614375" cy="217675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8" name="Google Shape;88;p17"/>
          <p:cNvSpPr/>
          <p:nvPr/>
        </p:nvSpPr>
        <p:spPr>
          <a:xfrm>
            <a:off x="5017550" y="1479475"/>
            <a:ext cx="3540900" cy="2930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latin typeface="Source Sans Pro"/>
                <a:ea typeface="Source Sans Pro"/>
                <a:cs typeface="Source Sans Pro"/>
                <a:sym typeface="Source Sans Pro"/>
              </a:rPr>
              <a:t>1.Registro Central:</a:t>
            </a:r>
            <a:endParaRPr sz="100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urce Sans Pro"/>
              <a:buChar char="●"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Vector global que almacena todos los nodos creados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urce Sans Pro"/>
              <a:buChar char="●"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Permite seguimiento de todas las personas en el árbol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latin typeface="Source Sans Pro"/>
                <a:ea typeface="Source Sans Pro"/>
                <a:cs typeface="Source Sans Pro"/>
                <a:sym typeface="Source Sans Pro"/>
              </a:rPr>
              <a:t>2.Inicialización Segura:</a:t>
            </a:r>
            <a:endParaRPr sz="100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urce Sans Pro"/>
              <a:buChar char="●"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Todos los punteros se inicializan a NULL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urce Sans Pro"/>
              <a:buChar char="●"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Evita referencias no válidas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latin typeface="Source Sans Pro"/>
                <a:ea typeface="Source Sans Pro"/>
                <a:cs typeface="Source Sans Pro"/>
                <a:sym typeface="Source Sans Pro"/>
              </a:rPr>
              <a:t>3.Gestión de Memoria:</a:t>
            </a:r>
            <a:endParaRPr sz="100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urce Sans Pro"/>
              <a:buChar char="●"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Uso de “new” para asignación dinámica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urce Sans Pro"/>
              <a:buChar char="●"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Devuelve puntero para construcción del árbol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582550" y="1605550"/>
            <a:ext cx="2064900" cy="204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903150" y="2667300"/>
            <a:ext cx="2294700" cy="555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1" name="Google Shape;91;p17"/>
          <p:cNvCxnSpPr>
            <a:endCxn id="89" idx="3"/>
          </p:cNvCxnSpPr>
          <p:nvPr/>
        </p:nvCxnSpPr>
        <p:spPr>
          <a:xfrm rot="10800000">
            <a:off x="2647450" y="1707850"/>
            <a:ext cx="2583000" cy="48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" name="Google Shape;92;p17"/>
          <p:cNvCxnSpPr>
            <a:endCxn id="90" idx="3"/>
          </p:cNvCxnSpPr>
          <p:nvPr/>
        </p:nvCxnSpPr>
        <p:spPr>
          <a:xfrm rot="10800000">
            <a:off x="3197850" y="2945100"/>
            <a:ext cx="2021400" cy="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25" y="2022650"/>
            <a:ext cx="4168625" cy="1563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200" i="1"/>
              <a:t>Implementamos una función para buscar Personas por nombre en el registro.</a:t>
            </a:r>
            <a:endParaRPr sz="1900" i="1"/>
          </a:p>
        </p:txBody>
      </p:sp>
      <p:sp>
        <p:nvSpPr>
          <p:cNvPr id="99" name="Google Shape;99;p18"/>
          <p:cNvSpPr/>
          <p:nvPr/>
        </p:nvSpPr>
        <p:spPr>
          <a:xfrm>
            <a:off x="550200" y="2073075"/>
            <a:ext cx="2646600" cy="252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901338" y="1507450"/>
            <a:ext cx="1944300" cy="302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Sans Pro"/>
                <a:ea typeface="Source Sans Pro"/>
                <a:cs typeface="Source Sans Pro"/>
                <a:sym typeface="Source Sans Pro"/>
              </a:rPr>
              <a:t>Declaramos la función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572088" y="3687150"/>
            <a:ext cx="3227400" cy="623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Sans Pro"/>
                <a:ea typeface="Source Sans Pro"/>
                <a:cs typeface="Source Sans Pro"/>
                <a:sym typeface="Source Sans Pro"/>
              </a:rPr>
              <a:t>comparación de nombres y retorno si encuentra y ala vez si no encuentra-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736950" y="2521050"/>
            <a:ext cx="2897700" cy="908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4799100" y="1683000"/>
            <a:ext cx="3664200" cy="2242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b="1">
                <a:latin typeface="Source Sans Pro"/>
                <a:ea typeface="Source Sans Pro"/>
                <a:cs typeface="Source Sans Pro"/>
                <a:sym typeface="Source Sans Pro"/>
              </a:rPr>
              <a:t>1.Mecanismo de Búsqueda: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">
                <a:latin typeface="Source Sans Pro"/>
                <a:ea typeface="Source Sans Pro"/>
                <a:cs typeface="Source Sans Pro"/>
                <a:sym typeface="Source Sans Pro"/>
              </a:rPr>
              <a:t>Recorre el vector personas de forma secuencial.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">
                <a:latin typeface="Source Sans Pro"/>
                <a:ea typeface="Source Sans Pro"/>
                <a:cs typeface="Source Sans Pro"/>
                <a:sym typeface="Source Sans Pro"/>
              </a:rPr>
              <a:t>Compara el nombre buscado con cada elemento.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">
                <a:latin typeface="Source Sans Pro"/>
                <a:ea typeface="Source Sans Pro"/>
                <a:cs typeface="Source Sans Pro"/>
                <a:sym typeface="Source Sans Pro"/>
              </a:rPr>
              <a:t>Retorna al primer match encontrado.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4" name="Google Shape;104;p18"/>
          <p:cNvCxnSpPr>
            <a:stCxn id="100" idx="2"/>
            <a:endCxn id="99" idx="0"/>
          </p:cNvCxnSpPr>
          <p:nvPr/>
        </p:nvCxnSpPr>
        <p:spPr>
          <a:xfrm>
            <a:off x="1873488" y="1810150"/>
            <a:ext cx="0" cy="26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05;p18"/>
          <p:cNvCxnSpPr>
            <a:stCxn id="101" idx="0"/>
            <a:endCxn id="102" idx="2"/>
          </p:cNvCxnSpPr>
          <p:nvPr/>
        </p:nvCxnSpPr>
        <p:spPr>
          <a:xfrm rot="10800000">
            <a:off x="2185788" y="3429150"/>
            <a:ext cx="0" cy="25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p18"/>
          <p:cNvCxnSpPr>
            <a:stCxn id="103" idx="1"/>
            <a:endCxn id="97" idx="3"/>
          </p:cNvCxnSpPr>
          <p:nvPr/>
        </p:nvCxnSpPr>
        <p:spPr>
          <a:xfrm rot="10800000">
            <a:off x="4317300" y="2804400"/>
            <a:ext cx="481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00" i="1"/>
              <a:t>Va permitir establecer relaciones padre-hijo en una estructura de árbol binario.</a:t>
            </a:r>
            <a:endParaRPr sz="2100" i="1"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700" y="1583125"/>
            <a:ext cx="4679450" cy="202542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3" name="Google Shape;113;p19"/>
          <p:cNvSpPr/>
          <p:nvPr/>
        </p:nvSpPr>
        <p:spPr>
          <a:xfrm>
            <a:off x="5308975" y="3362050"/>
            <a:ext cx="3277800" cy="1653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latin typeface="Source Sans Pro"/>
                <a:ea typeface="Source Sans Pro"/>
                <a:cs typeface="Source Sans Pro"/>
                <a:sym typeface="Source Sans Pro"/>
              </a:rPr>
              <a:t>1.Gestión de Relaciones: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">
                <a:latin typeface="Source Sans Pro"/>
                <a:ea typeface="Source Sans Pro"/>
                <a:cs typeface="Source Sans Pro"/>
                <a:sym typeface="Source Sans Pro"/>
              </a:rPr>
              <a:t>Establece relación bidireccional(Permite navegar el árbol en ambas direcciones).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">
                <a:latin typeface="Source Sans Pro"/>
                <a:ea typeface="Source Sans Pro"/>
                <a:cs typeface="Source Sans Pro"/>
                <a:sym typeface="Source Sans Pro"/>
              </a:rPr>
              <a:t>Actualiza puntero padre del hijo automáticamente.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748150" y="1583125"/>
            <a:ext cx="3305700" cy="960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4535750" y="1445575"/>
            <a:ext cx="2190600" cy="843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urce Sans Pro"/>
              <a:buAutoNum type="arabicPeriod"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Realizará la declaración.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urce Sans Pro"/>
              <a:buAutoNum type="arabicPeriod"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Verifica y asigna  hijo izquierdo.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Source Sans Pro"/>
              <a:buAutoNum type="arabicPeriod"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Verifica y asigna hijo derecho.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16" name="Google Shape;116;p19"/>
          <p:cNvCxnSpPr>
            <a:stCxn id="115" idx="1"/>
            <a:endCxn id="114" idx="3"/>
          </p:cNvCxnSpPr>
          <p:nvPr/>
        </p:nvCxnSpPr>
        <p:spPr>
          <a:xfrm flipH="1">
            <a:off x="4053950" y="1867525"/>
            <a:ext cx="481800" cy="196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7" name="Google Shape;117;p19"/>
          <p:cNvSpPr/>
          <p:nvPr/>
        </p:nvSpPr>
        <p:spPr>
          <a:xfrm>
            <a:off x="4667850" y="2614750"/>
            <a:ext cx="2638500" cy="330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Source Sans Pro"/>
                <a:ea typeface="Source Sans Pro"/>
                <a:cs typeface="Source Sans Pro"/>
                <a:sym typeface="Source Sans Pro"/>
              </a:rPr>
              <a:t>Advertencia de datos existentes y salida temprana</a:t>
            </a:r>
            <a:endParaRPr sz="9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1023750" y="2528038"/>
            <a:ext cx="3305700" cy="504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19" name="Google Shape;119;p19"/>
          <p:cNvCxnSpPr>
            <a:stCxn id="117" idx="1"/>
            <a:endCxn id="118" idx="3"/>
          </p:cNvCxnSpPr>
          <p:nvPr/>
        </p:nvCxnSpPr>
        <p:spPr>
          <a:xfrm rot="10800000">
            <a:off x="4329450" y="2780200"/>
            <a:ext cx="338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" name="Google Shape;120;p19"/>
          <p:cNvSpPr/>
          <p:nvPr/>
        </p:nvSpPr>
        <p:spPr>
          <a:xfrm>
            <a:off x="848675" y="3855650"/>
            <a:ext cx="1703400" cy="330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Source Sans Pro"/>
                <a:ea typeface="Source Sans Pro"/>
                <a:cs typeface="Source Sans Pro"/>
                <a:sym typeface="Source Sans Pro"/>
              </a:rPr>
              <a:t>Establece relación inversa</a:t>
            </a:r>
            <a:endParaRPr sz="9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21" name="Google Shape;121;p19"/>
          <p:cNvCxnSpPr>
            <a:stCxn id="120" idx="0"/>
            <a:endCxn id="122" idx="2"/>
          </p:cNvCxnSpPr>
          <p:nvPr/>
        </p:nvCxnSpPr>
        <p:spPr>
          <a:xfrm rot="10800000">
            <a:off x="1700375" y="3496550"/>
            <a:ext cx="0" cy="359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Google Shape;122;p19"/>
          <p:cNvSpPr/>
          <p:nvPr/>
        </p:nvSpPr>
        <p:spPr>
          <a:xfrm>
            <a:off x="935225" y="3165750"/>
            <a:ext cx="1530300" cy="330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232925" y="226500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00" i="1"/>
              <a:t>Muestra todos los ancestros de una persona (recursivamente hacia arriba) y Muestra todos los descendientes de una persona (recursivamente hacia abajo)</a:t>
            </a:r>
            <a:endParaRPr sz="1800" i="1"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850" y="1552300"/>
            <a:ext cx="4748000" cy="239077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9" name="Google Shape;129;p20"/>
          <p:cNvSpPr/>
          <p:nvPr/>
        </p:nvSpPr>
        <p:spPr>
          <a:xfrm>
            <a:off x="4949400" y="1473925"/>
            <a:ext cx="4042750" cy="104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" sz="1100" dirty="0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r>
              <a:rPr lang="es" sz="1100" b="1" dirty="0">
                <a:solidFill>
                  <a:schemeClr val="bg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</a:t>
            </a:r>
            <a:r>
              <a:rPr lang="es-PE" sz="1400" b="1" i="0" dirty="0">
                <a:solidFill>
                  <a:schemeClr val="bg2"/>
                </a:solidFill>
                <a:effectLst/>
                <a:latin typeface="quote-cjk-patch"/>
              </a:rPr>
              <a:t>Verifica</a:t>
            </a:r>
            <a:r>
              <a:rPr lang="es-PE" sz="1400" b="0" i="0" dirty="0">
                <a:solidFill>
                  <a:schemeClr val="bg2"/>
                </a:solidFill>
                <a:effectLst/>
                <a:latin typeface="quote-cjk-patch"/>
              </a:rPr>
              <a:t> si tiene padre</a:t>
            </a:r>
          </a:p>
          <a:p>
            <a:r>
              <a:rPr lang="es" sz="1100" dirty="0">
                <a:solidFill>
                  <a:schemeClr val="bg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2.</a:t>
            </a:r>
            <a:r>
              <a:rPr lang="es" sz="1100" b="1" dirty="0">
                <a:solidFill>
                  <a:schemeClr val="bg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s-PE" sz="1400" b="1" i="0" dirty="0">
                <a:solidFill>
                  <a:schemeClr val="bg2"/>
                </a:solidFill>
                <a:effectLst/>
                <a:latin typeface="quote-cjk-patch"/>
              </a:rPr>
              <a:t>Muestra</a:t>
            </a:r>
            <a:r>
              <a:rPr lang="es-PE" sz="1400" b="0" i="0" dirty="0">
                <a:solidFill>
                  <a:schemeClr val="bg2"/>
                </a:solidFill>
                <a:effectLst/>
                <a:latin typeface="quote-cjk-patch"/>
              </a:rPr>
              <a:t> el padre actual</a:t>
            </a:r>
          </a:p>
          <a:p>
            <a:r>
              <a:rPr lang="es" sz="1100" dirty="0">
                <a:latin typeface="Source Sans Pro"/>
                <a:ea typeface="Source Sans Pro"/>
                <a:cs typeface="Source Sans Pro"/>
                <a:sym typeface="Source Sans Pro"/>
              </a:rPr>
              <a:t>3.</a:t>
            </a:r>
            <a:r>
              <a:rPr lang="es" sz="1100" b="1" dirty="0"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s-ES" sz="1400" b="1" i="0" dirty="0">
                <a:solidFill>
                  <a:schemeClr val="bg2"/>
                </a:solidFill>
                <a:effectLst/>
                <a:latin typeface="quote-cjk-patch"/>
              </a:rPr>
              <a:t>Se llama a sí misma</a:t>
            </a:r>
            <a:r>
              <a:rPr lang="es-ES" sz="1400" b="0" i="0" dirty="0">
                <a:solidFill>
                  <a:schemeClr val="bg2"/>
                </a:solidFill>
                <a:effectLst/>
                <a:latin typeface="quote-cjk-patch"/>
              </a:rPr>
              <a:t> con el padre (recursión)</a:t>
            </a:r>
          </a:p>
          <a:p>
            <a:r>
              <a:rPr lang="es" sz="1100" dirty="0">
                <a:latin typeface="Source Sans Pro"/>
                <a:ea typeface="Source Sans Pro"/>
                <a:cs typeface="Source Sans Pro"/>
                <a:sym typeface="Source Sans Pro"/>
              </a:rPr>
              <a:t>4.</a:t>
            </a:r>
            <a:r>
              <a:rPr lang="es" sz="1100" b="1" dirty="0"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s-ES" sz="1400" b="1" i="0" dirty="0">
                <a:solidFill>
                  <a:schemeClr val="bg2"/>
                </a:solidFill>
                <a:effectLst/>
                <a:latin typeface="quote-cjk-patch"/>
              </a:rPr>
              <a:t>Se repite</a:t>
            </a:r>
            <a:r>
              <a:rPr lang="es-ES" sz="1400" b="0" i="0" dirty="0">
                <a:solidFill>
                  <a:schemeClr val="bg2"/>
                </a:solidFill>
                <a:effectLst/>
                <a:latin typeface="quote-cjk-patch"/>
              </a:rPr>
              <a:t> hasta llegar al ancestro original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441025" y="1540825"/>
            <a:ext cx="3853800" cy="824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31" name="Google Shape;131;p20"/>
          <p:cNvCxnSpPr>
            <a:cxnSpLocks/>
            <a:stCxn id="129" idx="1"/>
            <a:endCxn id="130" idx="3"/>
          </p:cNvCxnSpPr>
          <p:nvPr/>
        </p:nvCxnSpPr>
        <p:spPr>
          <a:xfrm flipH="1" flipV="1">
            <a:off x="4294825" y="1952875"/>
            <a:ext cx="654575" cy="45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20"/>
          <p:cNvSpPr/>
          <p:nvPr/>
        </p:nvSpPr>
        <p:spPr>
          <a:xfrm>
            <a:off x="813175" y="4101700"/>
            <a:ext cx="3637200" cy="90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</a:rPr>
              <a:t>1.</a:t>
            </a:r>
            <a:r>
              <a:rPr lang="es" sz="1000" b="1">
                <a:solidFill>
                  <a:schemeClr val="dk2"/>
                </a:solidFill>
              </a:rPr>
              <a:t>Recursión doble:</a:t>
            </a:r>
            <a:r>
              <a:rPr lang="es" sz="1000">
                <a:solidFill>
                  <a:schemeClr val="dk2"/>
                </a:solidFill>
              </a:rPr>
              <a:t> Va explora ambos hijos</a:t>
            </a:r>
            <a:endParaRPr sz="1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</a:rPr>
              <a:t>2.</a:t>
            </a:r>
            <a:r>
              <a:rPr lang="es" sz="1000" b="1">
                <a:solidFill>
                  <a:schemeClr val="dk2"/>
                </a:solidFill>
              </a:rPr>
              <a:t>Orden:</a:t>
            </a:r>
            <a:r>
              <a:rPr lang="es" sz="1000">
                <a:solidFill>
                  <a:schemeClr val="dk2"/>
                </a:solidFill>
              </a:rPr>
              <a:t> Primero hijos directos, luego sus descendientes</a:t>
            </a:r>
            <a:endParaRPr sz="1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</a:rPr>
              <a:t>3.</a:t>
            </a:r>
            <a:r>
              <a:rPr lang="es" sz="1000" b="1">
                <a:solidFill>
                  <a:schemeClr val="dk2"/>
                </a:solidFill>
              </a:rPr>
              <a:t>Seguridad</a:t>
            </a:r>
            <a:r>
              <a:rPr lang="es" sz="1000">
                <a:solidFill>
                  <a:schemeClr val="dk2"/>
                </a:solidFill>
              </a:rPr>
              <a:t>: Verifica “NULL” antes de accedr a punteros</a:t>
            </a:r>
            <a:endParaRPr sz="1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2"/>
                </a:solidFill>
              </a:rPr>
              <a:t>4.</a:t>
            </a:r>
            <a:r>
              <a:rPr lang="es" sz="1000" b="1">
                <a:solidFill>
                  <a:schemeClr val="dk2"/>
                </a:solidFill>
              </a:rPr>
              <a:t>Formato consistente:</a:t>
            </a:r>
            <a:r>
              <a:rPr lang="es" sz="1000">
                <a:solidFill>
                  <a:schemeClr val="dk2"/>
                </a:solidFill>
              </a:rPr>
              <a:t> Igual que ancestros ("Nombre (Edad)")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402925" y="2521825"/>
            <a:ext cx="4457700" cy="1355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34" name="Google Shape;134;p20"/>
          <p:cNvCxnSpPr>
            <a:stCxn id="132" idx="0"/>
            <a:endCxn id="133" idx="2"/>
          </p:cNvCxnSpPr>
          <p:nvPr/>
        </p:nvCxnSpPr>
        <p:spPr>
          <a:xfrm rot="10800000">
            <a:off x="2631775" y="3877600"/>
            <a:ext cx="0" cy="22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" name="Google Shape;135;p20"/>
          <p:cNvSpPr/>
          <p:nvPr/>
        </p:nvSpPr>
        <p:spPr>
          <a:xfrm>
            <a:off x="3157225" y="3312925"/>
            <a:ext cx="1792200" cy="279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Source Sans Pro"/>
                <a:ea typeface="Source Sans Pro"/>
                <a:cs typeface="Source Sans Pro"/>
                <a:sym typeface="Source Sans Pro"/>
              </a:rPr>
              <a:t>Recursividad en ambos árboles</a:t>
            </a:r>
            <a:endParaRPr sz="9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761500" y="3312925"/>
            <a:ext cx="2082000" cy="279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37" name="Google Shape;137;p20"/>
          <p:cNvCxnSpPr>
            <a:stCxn id="135" idx="1"/>
            <a:endCxn id="136" idx="3"/>
          </p:cNvCxnSpPr>
          <p:nvPr/>
        </p:nvCxnSpPr>
        <p:spPr>
          <a:xfrm rot="10800000">
            <a:off x="2843425" y="3452425"/>
            <a:ext cx="313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207300" y="282525"/>
            <a:ext cx="8907900" cy="9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500" i="1"/>
              <a:t>L</a:t>
            </a:r>
            <a:r>
              <a:rPr lang="es" sz="1700" i="1"/>
              <a:t>a función que elimina recursivamente un subárbol completo desde un nodo dado, incluyendo(Todos sus descendientes, Él propio nodo, Su referencia en el vector global personas)</a:t>
            </a:r>
            <a:endParaRPr sz="17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300"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026" y="1747276"/>
            <a:ext cx="4839126" cy="207987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4" name="Google Shape;144;p21"/>
          <p:cNvSpPr/>
          <p:nvPr/>
        </p:nvSpPr>
        <p:spPr>
          <a:xfrm>
            <a:off x="4994175" y="2185500"/>
            <a:ext cx="2236500" cy="311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Eliminación recursiva de hijos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1113375" y="2185500"/>
            <a:ext cx="3304800" cy="311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5678825" y="3715100"/>
            <a:ext cx="3176700" cy="1144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r>
              <a:rPr lang="es" sz="1100" b="1">
                <a:latin typeface="Source Sans Pro"/>
                <a:ea typeface="Source Sans Pro"/>
                <a:cs typeface="Source Sans Pro"/>
                <a:sym typeface="Source Sans Pro"/>
              </a:rPr>
              <a:t>.Eliminación en profundidad (post-order):</a:t>
            </a:r>
            <a:endParaRPr sz="110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Char char="●"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Primero elimina hijos izquierdo y derecho (recursivamente).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Source Sans Pro"/>
              <a:buChar char="●"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Luego elimina el nodo actual.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5040100" y="2761650"/>
            <a:ext cx="2958300" cy="311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Eliminación del registro en el vector global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1243350" y="2606850"/>
            <a:ext cx="3454800" cy="75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49" name="Google Shape;149;p21"/>
          <p:cNvCxnSpPr>
            <a:stCxn id="144" idx="1"/>
            <a:endCxn id="145" idx="3"/>
          </p:cNvCxnSpPr>
          <p:nvPr/>
        </p:nvCxnSpPr>
        <p:spPr>
          <a:xfrm rot="10800000">
            <a:off x="4418175" y="2341050"/>
            <a:ext cx="576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" name="Google Shape;150;p21"/>
          <p:cNvCxnSpPr>
            <a:stCxn id="147" idx="1"/>
            <a:endCxn id="148" idx="3"/>
          </p:cNvCxnSpPr>
          <p:nvPr/>
        </p:nvCxnSpPr>
        <p:spPr>
          <a:xfrm flipH="1">
            <a:off x="4698100" y="2917200"/>
            <a:ext cx="342000" cy="6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395750" y="30257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es" sz="1900" i="1"/>
              <a:t>La función elimina una persona y todo su subárbol de descendientes, manteniendo la integridad de la estructura del árbol.</a:t>
            </a:r>
            <a:endParaRPr sz="19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900"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454" y="1276650"/>
            <a:ext cx="6375425" cy="303237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7" name="Google Shape;157;p22"/>
          <p:cNvSpPr/>
          <p:nvPr/>
        </p:nvSpPr>
        <p:spPr>
          <a:xfrm>
            <a:off x="1412125" y="1491975"/>
            <a:ext cx="3694500" cy="176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7133525" y="3756350"/>
            <a:ext cx="1551900" cy="311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Eliminación del subárbol y confirmación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6614850" y="2899050"/>
            <a:ext cx="1895700" cy="311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Desconexión del padre (si existe)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5634600" y="1858736"/>
            <a:ext cx="1855800" cy="263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Validación de existencia</a:t>
            </a:r>
            <a:endParaRPr sz="1000"/>
          </a:p>
        </p:txBody>
      </p:sp>
      <p:sp>
        <p:nvSpPr>
          <p:cNvPr id="161" name="Google Shape;161;p22"/>
          <p:cNvSpPr/>
          <p:nvPr/>
        </p:nvSpPr>
        <p:spPr>
          <a:xfrm>
            <a:off x="5634600" y="1424775"/>
            <a:ext cx="1715700" cy="311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Source Sans Pro"/>
                <a:ea typeface="Source Sans Pro"/>
                <a:cs typeface="Source Sans Pro"/>
                <a:sym typeface="Source Sans Pro"/>
              </a:rPr>
              <a:t>Búsqueda de la persona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1508150" y="1702475"/>
            <a:ext cx="3694500" cy="570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1440750" y="2507400"/>
            <a:ext cx="4474500" cy="1094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1468925" y="3675350"/>
            <a:ext cx="5229900" cy="473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65" name="Google Shape;165;p22"/>
          <p:cNvCxnSpPr>
            <a:stCxn id="161" idx="1"/>
            <a:endCxn id="157" idx="3"/>
          </p:cNvCxnSpPr>
          <p:nvPr/>
        </p:nvCxnSpPr>
        <p:spPr>
          <a:xfrm rot="10800000">
            <a:off x="5106600" y="1580325"/>
            <a:ext cx="528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22"/>
          <p:cNvCxnSpPr>
            <a:stCxn id="160" idx="1"/>
            <a:endCxn id="162" idx="3"/>
          </p:cNvCxnSpPr>
          <p:nvPr/>
        </p:nvCxnSpPr>
        <p:spPr>
          <a:xfrm rot="10800000">
            <a:off x="5202600" y="1987886"/>
            <a:ext cx="432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22"/>
          <p:cNvCxnSpPr>
            <a:stCxn id="159" idx="1"/>
            <a:endCxn id="163" idx="3"/>
          </p:cNvCxnSpPr>
          <p:nvPr/>
        </p:nvCxnSpPr>
        <p:spPr>
          <a:xfrm rot="10800000">
            <a:off x="5915250" y="3054600"/>
            <a:ext cx="69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22"/>
          <p:cNvCxnSpPr>
            <a:stCxn id="158" idx="1"/>
            <a:endCxn id="164" idx="3"/>
          </p:cNvCxnSpPr>
          <p:nvPr/>
        </p:nvCxnSpPr>
        <p:spPr>
          <a:xfrm rot="10800000">
            <a:off x="6698825" y="3911900"/>
            <a:ext cx="434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>
            <a:spLocks noGrp="1"/>
          </p:cNvSpPr>
          <p:nvPr>
            <p:ph type="title"/>
          </p:nvPr>
        </p:nvSpPr>
        <p:spPr>
          <a:xfrm>
            <a:off x="311700" y="124250"/>
            <a:ext cx="8520600" cy="9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00" i="1"/>
              <a:t>Una función que verifica y solicita al usuario seleccionar una opción mediante un número del (1 al 6), asegurándose de gestionar de manera efectiva cualquier error o entrada inválida.</a:t>
            </a:r>
            <a:endParaRPr sz="2100" i="1"/>
          </a:p>
        </p:txBody>
      </p:sp>
      <p:pic>
        <p:nvPicPr>
          <p:cNvPr id="174" name="Google Shape;17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300" y="1800150"/>
            <a:ext cx="4891425" cy="237172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5" name="Google Shape;175;p23"/>
          <p:cNvSpPr/>
          <p:nvPr/>
        </p:nvSpPr>
        <p:spPr>
          <a:xfrm>
            <a:off x="5499900" y="2215250"/>
            <a:ext cx="3644100" cy="183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300" b="1">
                <a:latin typeface="Source Sans Pro"/>
                <a:ea typeface="Source Sans Pro"/>
                <a:cs typeface="Source Sans Pro"/>
                <a:sym typeface="Source Sans Pro"/>
              </a:rPr>
              <a:t>Interfaz amigable:</a:t>
            </a:r>
            <a:endParaRPr sz="130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300">
                <a:latin typeface="Source Sans Pro"/>
                <a:ea typeface="Source Sans Pro"/>
                <a:cs typeface="Source Sans Pro"/>
                <a:sym typeface="Source Sans Pro"/>
              </a:rPr>
              <a:t>1.Detecta entradas no numéricas</a:t>
            </a:r>
            <a:endParaRPr sz="13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300">
                <a:latin typeface="Source Sans Pro"/>
                <a:ea typeface="Source Sans Pro"/>
                <a:cs typeface="Source Sans Pro"/>
                <a:sym typeface="Source Sans Pro"/>
              </a:rPr>
              <a:t>2.Recupera el flujo de entrada después de errores</a:t>
            </a:r>
            <a:endParaRPr sz="13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300">
                <a:latin typeface="Source Sans Pro"/>
                <a:ea typeface="Source Sans Pro"/>
                <a:cs typeface="Source Sans Pro"/>
                <a:sym typeface="Source Sans Pro"/>
              </a:rPr>
              <a:t>3.Limpieza completa del buffer cuando hay error</a:t>
            </a:r>
            <a:endParaRPr sz="13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300">
                <a:latin typeface="Source Sans Pro"/>
                <a:ea typeface="Source Sans Pro"/>
                <a:cs typeface="Source Sans Pro"/>
                <a:sym typeface="Source Sans Pro"/>
              </a:rPr>
              <a:t>4.Mensajes claros para el usuario</a:t>
            </a:r>
            <a:endParaRPr sz="13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300">
                <a:latin typeface="Source Sans Pro"/>
                <a:ea typeface="Source Sans Pro"/>
                <a:cs typeface="Source Sans Pro"/>
                <a:sym typeface="Source Sans Pro"/>
              </a:rPr>
              <a:t>5.Bucle continuo hasta obtener entrada válida</a:t>
            </a:r>
            <a:endParaRPr sz="13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1629875" y="2571750"/>
            <a:ext cx="776700" cy="169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1438875" y="3529925"/>
            <a:ext cx="732900" cy="131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1438875" y="3661325"/>
            <a:ext cx="1440000" cy="131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>
            <a:spLocks noGrp="1"/>
          </p:cNvSpPr>
          <p:nvPr>
            <p:ph type="title"/>
          </p:nvPr>
        </p:nvSpPr>
        <p:spPr>
          <a:xfrm>
            <a:off x="311700" y="101725"/>
            <a:ext cx="8520600" cy="11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00" i="1"/>
              <a:t>La función solicita y verifica que la edad ingresada por el usuario sea un número no negativo, incluyendo un manejo adecuado de errores para entradas incorrectas o inválidas.</a:t>
            </a:r>
            <a:endParaRPr sz="2100" i="1"/>
          </a:p>
        </p:txBody>
      </p:sp>
      <p:pic>
        <p:nvPicPr>
          <p:cNvPr id="184" name="Google Shape;18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57038"/>
            <a:ext cx="5146924" cy="236477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5" name="Google Shape;185;p24"/>
          <p:cNvSpPr/>
          <p:nvPr/>
        </p:nvSpPr>
        <p:spPr>
          <a:xfrm>
            <a:off x="5605175" y="1409275"/>
            <a:ext cx="3595800" cy="3060300"/>
          </a:xfrm>
          <a:prstGeom prst="roundRect">
            <a:avLst>
              <a:gd name="adj" fmla="val 35361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 b="1">
                <a:latin typeface="Source Sans Pro"/>
                <a:ea typeface="Source Sans Pro"/>
                <a:cs typeface="Source Sans Pro"/>
                <a:sym typeface="Source Sans Pro"/>
              </a:rPr>
              <a:t>Validación estricta:</a:t>
            </a:r>
            <a:endParaRPr sz="110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1.Solo acepta valores enteros no negativos (edad ≥ 0)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-Manejo robusto de errores: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 b="1">
                <a:latin typeface="Source Sans Pro"/>
                <a:ea typeface="Source Sans Pro"/>
                <a:cs typeface="Source Sans Pro"/>
                <a:sym typeface="Source Sans Pro"/>
              </a:rPr>
              <a:t>2.Detecta entradas no numéricas (ejemplo: "abc")</a:t>
            </a:r>
            <a:endParaRPr sz="110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-Rechaza valores negativos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-Recupera el flujo de entrada tras errores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 b="1">
                <a:latin typeface="Source Sans Pro"/>
                <a:ea typeface="Source Sans Pro"/>
                <a:cs typeface="Source Sans Pro"/>
                <a:sym typeface="Source Sans Pro"/>
              </a:rPr>
              <a:t>3.Limpieza de buffer:</a:t>
            </a:r>
            <a:endParaRPr sz="110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-"cin.ignore()" tras lectura exitosa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-Limpieza completa con "cin.clear()" + "bucle" cuando hay error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 b="1">
                <a:latin typeface="Source Sans Pro"/>
                <a:ea typeface="Source Sans Pro"/>
                <a:cs typeface="Source Sans Pro"/>
                <a:sym typeface="Source Sans Pro"/>
              </a:rPr>
              <a:t>4.Interfaz clara:</a:t>
            </a:r>
            <a:endParaRPr sz="110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-Mensajes de error específicos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Source Sans Pro"/>
                <a:ea typeface="Source Sans Pro"/>
                <a:cs typeface="Source Sans Pro"/>
                <a:sym typeface="Source Sans Pro"/>
              </a:rPr>
              <a:t>-Bucle continuo hasta entrada válida</a:t>
            </a:r>
            <a:endParaRPr sz="13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1336800" y="2509750"/>
            <a:ext cx="776700" cy="169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329250"/>
            <a:ext cx="4490599" cy="4587326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2" name="Google Shape;19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5750" y="329250"/>
            <a:ext cx="3454200" cy="2370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3" name="Google Shape;193;p25"/>
          <p:cNvSpPr/>
          <p:nvPr/>
        </p:nvSpPr>
        <p:spPr>
          <a:xfrm>
            <a:off x="5195550" y="2978900"/>
            <a:ext cx="3644100" cy="183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2100">
                <a:solidFill>
                  <a:schemeClr val="dk2"/>
                </a:solidFill>
              </a:rPr>
              <a:t> Menú interactivo para gestionar un árbol genealógico.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88D4"/>
            </a:gs>
            <a:gs pos="100000">
              <a:srgbClr val="61419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>
            <a:spLocks noGrp="1"/>
          </p:cNvSpPr>
          <p:nvPr>
            <p:ph type="body" idx="1"/>
          </p:nvPr>
        </p:nvSpPr>
        <p:spPr>
          <a:xfrm>
            <a:off x="202225" y="3473900"/>
            <a:ext cx="8520600" cy="13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84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</a:t>
            </a:r>
            <a:endParaRPr sz="84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99" name="Google Shape;19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163" y="609150"/>
            <a:ext cx="3578014" cy="286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918</Words>
  <Application>Microsoft Office PowerPoint</Application>
  <PresentationFormat>Presentación en pantalla (16:9)</PresentationFormat>
  <Paragraphs>95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3" baseType="lpstr">
      <vt:lpstr>Playfair Display</vt:lpstr>
      <vt:lpstr>Google Sans Text</vt:lpstr>
      <vt:lpstr>Calibri</vt:lpstr>
      <vt:lpstr>Raleway</vt:lpstr>
      <vt:lpstr>quote-cjk-patch</vt:lpstr>
      <vt:lpstr>Source Sans Pro</vt:lpstr>
      <vt:lpstr>Lato</vt:lpstr>
      <vt:lpstr>Arial</vt:lpstr>
      <vt:lpstr>Plum</vt:lpstr>
      <vt:lpstr>Árbol Genealógico</vt:lpstr>
      <vt:lpstr>Introducción</vt:lpstr>
      <vt:lpstr> Ejemplo de Código:</vt:lpstr>
      <vt:lpstr>Define una estructura llamada "Persona" en C++ ,que está diseñada para construir una estructura de datos jerárquica o árbol.</vt:lpstr>
      <vt:lpstr>Implementa una función para crear y gestionar instancias de la estructura Persona en un árbol binario.</vt:lpstr>
      <vt:lpstr>Implementamos una función para buscar Personas por nombre en el registro.</vt:lpstr>
      <vt:lpstr>Va permitir establecer relaciones padre-hijo en una estructura de árbol binario.</vt:lpstr>
      <vt:lpstr>Muestra todos los ancestros de una persona (recursivamente hacia arriba) y Muestra todos los descendientes de una persona (recursivamente hacia abajo)</vt:lpstr>
      <vt:lpstr>La función que elimina recursivamente un subárbol completo desde un nodo dado, incluyendo(Todos sus descendientes, Él propio nodo, Su referencia en el vector global personas)  </vt:lpstr>
      <vt:lpstr>La función elimina una persona y todo su subárbol de descendientes, manteniendo la integridad de la estructura del árbol.  </vt:lpstr>
      <vt:lpstr>Una función que verifica y solicita al usuario seleccionar una opción mediante un número del (1 al 6), asegurándose de gestionar de manera efectiva cualquier error o entrada inválida.</vt:lpstr>
      <vt:lpstr>La función solicita y verifica que la edad ingresada por el usuario sea un número no negativo, incluyendo un manejo adecuado de errores para entradas incorrectas o inválidas.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Árbol Genealógico</dc:title>
  <cp:lastModifiedBy>Usuario</cp:lastModifiedBy>
  <cp:revision>2</cp:revision>
  <dcterms:modified xsi:type="dcterms:W3CDTF">2025-11-24T20:30:07Z</dcterms:modified>
</cp:coreProperties>
</file>